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Qué: un módulo donde el equipo consulta el estado de cada proyecto del POAI sin pedirle reportes a nadie.</a:t>
            </a:r>
          </a:p>
          <a:p>
            <a:r>
              <a:t>Cómo: el trabajo empezó por entender los reportes de la plataforma y sus llaves de cruce; ese análisis se hizo en Python y sobre él se construyó la aplicación.</a:t>
            </a:r>
          </a:p>
          <a:p>
            <a:r>
              <a:t>Resultado: la ejecución presupuestal y la contratación pública del proyecto, actualizadas y en un solo lugar.</a:t>
            </a:r>
          </a:p>
          <a:p>
            <a:r>
              <a:t>Habilidades: iniciativa, escucha activa y empatía, creatividad.</a:t>
            </a:r>
          </a:p>
          <a:p/>
          <a:p>
            <a:r>
              <a:t>Reemplazar los cinco marcos punteados por las capturas y borrar el pie de foto.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9" name="Rectangle 48"/>
          <p:cNvSpPr/>
          <p:nvPr/>
        </p:nvSpPr>
        <p:spPr>
          <a:xfrm>
            <a:off x="703800" y="2473200"/>
            <a:ext cx="32400" cy="6390000"/>
          </a:xfrm>
          <a:prstGeom prst="rect">
            <a:avLst/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1188000" y="540000"/>
            <a:ext cx="5832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140">
                <a:solidFill>
                  <a:srgbClr val="109D39"/>
                </a:solidFill>
                <a:latin typeface="Segoe UI"/>
              </a:rPr>
              <a:t>PLAN OPERATIVO ANUAL DE INVERSIONES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000" y="810000"/>
            <a:ext cx="5832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A231C"/>
                </a:solidFill>
                <a:latin typeface="Segoe UI"/>
              </a:rPr>
              <a:t>Desarrollo del módulo
de seguimiento del POAI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000" y="1655999"/>
            <a:ext cx="5832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Segoe UI"/>
              </a:rPr>
              <a:t>Una aplicación web que reúne la ejecución presupuestal de los proyectos de inversión y su contratación pública en un solo lugar.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000" y="2088000"/>
            <a:ext cx="5832000" cy="25200"/>
          </a:xfrm>
          <a:prstGeom prst="rect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6799" y="2250000"/>
            <a:ext cx="446400" cy="446400"/>
          </a:xfrm>
          <a:prstGeom prst="ellipse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2257200"/>
            <a:ext cx="5832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231C"/>
                </a:solidFill>
                <a:latin typeface="Segoe UI"/>
              </a:rPr>
              <a:t>Qué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000" y="2610000"/>
            <a:ext cx="5832000" cy="41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Un solo lugar donde el equipo consulta por sí mismo el estado de cada proyecto de inversión: cómo va su presupuesto y cómo va su contratación.</a:t>
            </a:r>
          </a:p>
        </p:txBody>
      </p:sp>
      <p:sp>
        <p:nvSpPr>
          <p:cNvPr id="9" name="Oval 8"/>
          <p:cNvSpPr/>
          <p:nvPr/>
        </p:nvSpPr>
        <p:spPr>
          <a:xfrm>
            <a:off x="496799" y="3150000"/>
            <a:ext cx="446400" cy="446400"/>
          </a:xfrm>
          <a:prstGeom prst="ellipse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000" y="3157200"/>
            <a:ext cx="5832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231C"/>
                </a:solidFill>
                <a:latin typeface="Segoe UI"/>
              </a:rPr>
              <a:t>Cómo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000" y="3510000"/>
            <a:ext cx="5832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Por medio de programación. Primero entendí los reportes de la plataforma presupuestal: cuáles servían, cómo se comunican entre sí y con qué llaves se cruzan. Ese análisis se hizo en un cuaderno de Python, y sobre esas reglas se construyó la aplicación.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000" y="4320000"/>
            <a:ext cx="1860000" cy="342000"/>
          </a:xfrm>
          <a:prstGeom prst="roundRect">
            <a:avLst>
              <a:gd name="adj" fmla="val 35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950" b="1">
                <a:solidFill>
                  <a:srgbClr val="1A231C"/>
                </a:solidFill>
                <a:latin typeface="Segoe UI"/>
              </a:rPr>
              <a:t>Entender los reportes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069600" y="4429800"/>
            <a:ext cx="86400" cy="122400"/>
          </a:xfrm>
          <a:prstGeom prst="triangle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74000" y="4320000"/>
            <a:ext cx="1860000" cy="342000"/>
          </a:xfrm>
          <a:prstGeom prst="roundRect">
            <a:avLst>
              <a:gd name="adj" fmla="val 35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950" b="1">
                <a:solidFill>
                  <a:srgbClr val="1A231C"/>
                </a:solidFill>
                <a:latin typeface="Segoe UI"/>
              </a:rPr>
              <a:t>Definir las llaves de cruce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5055600" y="4429800"/>
            <a:ext cx="86400" cy="122400"/>
          </a:xfrm>
          <a:prstGeom prst="triangle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60000" y="4320000"/>
            <a:ext cx="1860000" cy="342000"/>
          </a:xfrm>
          <a:prstGeom prst="roundRect">
            <a:avLst>
              <a:gd name="adj" fmla="val 35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950" b="1">
                <a:solidFill>
                  <a:srgbClr val="1A231C"/>
                </a:solidFill>
                <a:latin typeface="Segoe UI"/>
              </a:rPr>
              <a:t>Construir la aplicación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000" y="4734000"/>
            <a:ext cx="2844000" cy="7200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12700">
            <a:solidFill>
              <a:srgbClr val="D8DD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000" y="4968000"/>
            <a:ext cx="284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Captura del análisis en 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5999" y="4734000"/>
            <a:ext cx="2844000" cy="7200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12700">
            <a:solidFill>
              <a:srgbClr val="D8DD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5999" y="4968000"/>
            <a:ext cx="284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Captura del código de la aplicación</a:t>
            </a:r>
          </a:p>
        </p:txBody>
      </p:sp>
      <p:sp>
        <p:nvSpPr>
          <p:cNvPr id="21" name="Oval 20"/>
          <p:cNvSpPr/>
          <p:nvPr/>
        </p:nvSpPr>
        <p:spPr>
          <a:xfrm>
            <a:off x="496799" y="5544000"/>
            <a:ext cx="446400" cy="446400"/>
          </a:xfrm>
          <a:prstGeom prst="ellipse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000" y="5551200"/>
            <a:ext cx="5832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231C"/>
                </a:solidFill>
                <a:latin typeface="Segoe UI"/>
              </a:rPr>
              <a:t>Resultado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000" y="5903999"/>
            <a:ext cx="5832000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Segoe UI"/>
              </a:rPr>
              <a:t>Seguimiento actualizado del flujo presupuestal de los proyectos del POAI y de los procesos y contratos registrados en SECOP II. Lo que antes exigía cruzar reportes a mano, hoy se consulta en pantalla.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000" y="6605999"/>
            <a:ext cx="820799" cy="324000"/>
          </a:xfrm>
          <a:prstGeom prst="roundRect">
            <a:avLst>
              <a:gd name="adj" fmla="val 35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850" b="1">
                <a:solidFill>
                  <a:srgbClr val="1A231C"/>
                </a:solidFill>
                <a:latin typeface="Segoe UI"/>
              </a:rPr>
              <a:t>Disponibilidad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2030400" y="6706799"/>
            <a:ext cx="86400" cy="122400"/>
          </a:xfrm>
          <a:prstGeom prst="triangle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080799" y="6605999"/>
            <a:ext cx="820799" cy="324000"/>
          </a:xfrm>
          <a:prstGeom prst="roundRect">
            <a:avLst>
              <a:gd name="adj" fmla="val 35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850" b="1">
                <a:solidFill>
                  <a:srgbClr val="1A231C"/>
                </a:solidFill>
                <a:latin typeface="Segoe UI"/>
              </a:rPr>
              <a:t>Compromiso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2923199" y="6706799"/>
            <a:ext cx="86400" cy="122400"/>
          </a:xfrm>
          <a:prstGeom prst="triangle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73600" y="6605999"/>
            <a:ext cx="820799" cy="324000"/>
          </a:xfrm>
          <a:prstGeom prst="roundRect">
            <a:avLst>
              <a:gd name="adj" fmla="val 35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850" b="1">
                <a:solidFill>
                  <a:srgbClr val="1A231C"/>
                </a:solidFill>
                <a:latin typeface="Segoe UI"/>
              </a:rPr>
              <a:t>Obligación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3816000" y="6706799"/>
            <a:ext cx="86400" cy="122400"/>
          </a:xfrm>
          <a:prstGeom prst="triangle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866399" y="6605999"/>
            <a:ext cx="820799" cy="324000"/>
          </a:xfrm>
          <a:prstGeom prst="roundRect">
            <a:avLst>
              <a:gd name="adj" fmla="val 35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/>
          <a:lstStyle/>
          <a:p>
            <a:pPr algn="ctr"/>
            <a:r>
              <a:rPr sz="850" b="1">
                <a:solidFill>
                  <a:srgbClr val="1A231C"/>
                </a:solidFill>
                <a:latin typeface="Segoe UI"/>
              </a:rPr>
              <a:t>Pago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20480" y="6605999"/>
            <a:ext cx="2099520" cy="324000"/>
          </a:xfrm>
          <a:prstGeom prst="roundRect">
            <a:avLst>
              <a:gd name="adj" fmla="val 35000"/>
            </a:avLst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SECOP II: procesos y contratos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000" y="7002000"/>
            <a:ext cx="5832000" cy="827999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12700">
            <a:solidFill>
              <a:srgbClr val="D8DD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000" y="7289999"/>
            <a:ext cx="5832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Captura: tablero de gestión por dependencia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000" y="7902000"/>
            <a:ext cx="2844000" cy="6660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12700">
            <a:solidFill>
              <a:srgbClr val="D8DD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000" y="8108999"/>
            <a:ext cx="284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Captura: ficha del proyecto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75999" y="7902000"/>
            <a:ext cx="2844000" cy="666000"/>
          </a:xfrm>
          <a:prstGeom prst="roundRect">
            <a:avLst>
              <a:gd name="adj" fmla="val 3000"/>
            </a:avLst>
          </a:prstGeom>
          <a:solidFill>
            <a:srgbClr val="FAFBFA"/>
          </a:solidFill>
          <a:ln w="12700">
            <a:solidFill>
              <a:srgbClr val="D8DD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75999" y="8108999"/>
            <a:ext cx="2844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280"/>
                </a:solidFill>
                <a:latin typeface="Segoe UI"/>
              </a:rPr>
              <a:t>Captura: listado de proyectos</a:t>
            </a:r>
          </a:p>
        </p:txBody>
      </p:sp>
      <p:sp>
        <p:nvSpPr>
          <p:cNvPr id="38" name="Oval 37"/>
          <p:cNvSpPr/>
          <p:nvPr/>
        </p:nvSpPr>
        <p:spPr>
          <a:xfrm>
            <a:off x="496799" y="8640000"/>
            <a:ext cx="446400" cy="446400"/>
          </a:xfrm>
          <a:prstGeom prst="ellipse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000" y="8647200"/>
            <a:ext cx="5832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231C"/>
                </a:solidFill>
                <a:latin typeface="Segoe UI"/>
              </a:rPr>
              <a:t>Habilidades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000" y="9054000"/>
            <a:ext cx="1824000" cy="25200"/>
          </a:xfrm>
          <a:prstGeom prst="rect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000" y="9144000"/>
            <a:ext cx="182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A231C"/>
                </a:solidFill>
                <a:latin typeface="Segoe UI"/>
              </a:rPr>
              <a:t>Iniciativa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000" y="9467999"/>
            <a:ext cx="182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Segoe UI"/>
              </a:rPr>
              <a:t>Dispuse del tiempo y el esfuerzo para entender y utilizar las herramientas adecuadas para construir el aplicativo.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92000" y="9054000"/>
            <a:ext cx="1824000" cy="25200"/>
          </a:xfrm>
          <a:prstGeom prst="rect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92000" y="9144000"/>
            <a:ext cx="182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A231C"/>
                </a:solidFill>
                <a:latin typeface="Segoe UI"/>
              </a:rPr>
              <a:t>Escucha activa y empatía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92000" y="9467999"/>
            <a:ext cx="182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Segoe UI"/>
              </a:rPr>
              <a:t>Entendí las necesidades de acceso a la información por parte del equipo.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96000" y="9054000"/>
            <a:ext cx="1824000" cy="25200"/>
          </a:xfrm>
          <a:prstGeom prst="rect">
            <a:avLst/>
          </a:prstGeom>
          <a:solidFill>
            <a:srgbClr val="109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96000" y="9144000"/>
            <a:ext cx="1824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A231C"/>
                </a:solidFill>
                <a:latin typeface="Segoe UI"/>
              </a:rPr>
              <a:t>Creatividad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96000" y="9467999"/>
            <a:ext cx="1824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B7280"/>
                </a:solidFill>
                <a:latin typeface="Segoe UI"/>
              </a:rPr>
              <a:t>Puse en práctica conocimientos previos y enlacé el uso de distintas herramientas para resolver el problema.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000" y="10278000"/>
            <a:ext cx="583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7280"/>
                </a:solidFill>
                <a:latin typeface="Segoe UI"/>
              </a:rPr>
              <a:t>Seguimiento POAI · Información de SIIFWEB y de SECOP 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